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17"/>
  </p:notesMasterIdLst>
  <p:handoutMasterIdLst>
    <p:handoutMasterId r:id="rId18"/>
  </p:handoutMasterIdLst>
  <p:sldIdLst>
    <p:sldId id="256" r:id="rId5"/>
    <p:sldId id="271" r:id="rId6"/>
    <p:sldId id="283" r:id="rId7"/>
    <p:sldId id="284" r:id="rId8"/>
    <p:sldId id="292" r:id="rId9"/>
    <p:sldId id="285" r:id="rId10"/>
    <p:sldId id="286" r:id="rId11"/>
    <p:sldId id="287" r:id="rId12"/>
    <p:sldId id="288" r:id="rId13"/>
    <p:sldId id="289" r:id="rId14"/>
    <p:sldId id="290" r:id="rId15"/>
    <p:sldId id="291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Welcome" id="{E75E278A-FF0E-49A4-B170-79828D63BBAD}">
          <p14:sldIdLst>
            <p14:sldId id="256"/>
          </p14:sldIdLst>
        </p14:section>
        <p14:section name="Design, Morph, Annotate, Work Together, Tell Me" id="{B9B51309-D148-4332-87C2-07BE32FBCA3B}">
          <p14:sldIdLst>
            <p14:sldId id="271"/>
            <p14:sldId id="283"/>
            <p14:sldId id="284"/>
            <p14:sldId id="292"/>
            <p14:sldId id="285"/>
            <p14:sldId id="286"/>
            <p14:sldId id="287"/>
            <p14:sldId id="288"/>
            <p14:sldId id="289"/>
            <p14:sldId id="290"/>
            <p14:sldId id="291"/>
          </p14:sldIdLst>
        </p14:section>
        <p14:section name="Learn More" id="{2CC34DB2-6590-42C0-AD4B-A04C6060184E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24726"/>
    <a:srgbClr val="404040"/>
    <a:srgbClr val="FF9B45"/>
    <a:srgbClr val="DD462F"/>
    <a:srgbClr val="F8CFB6"/>
    <a:srgbClr val="F8CAB6"/>
    <a:srgbClr val="923922"/>
    <a:srgbClr val="F5F5F5"/>
    <a:srgbClr val="F2F2F2"/>
    <a:srgbClr val="D2B4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241" autoAdjust="0"/>
  </p:normalViewPr>
  <p:slideViewPr>
    <p:cSldViewPr snapToGrid="0">
      <p:cViewPr varScale="1">
        <p:scale>
          <a:sx n="60" d="100"/>
          <a:sy n="60" d="100"/>
        </p:scale>
        <p:origin x="800" y="4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828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commentAuthors" Target="comment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680FBE-A8DF-4758-9AC4-3A9E1039168F}" type="datetimeFigureOut">
              <a:rPr lang="en-US" smtClean="0"/>
              <a:t>5/20/2025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679768-A2FC-4D08-91F6-8DCE6C566B3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025516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13577B-6902-467D-A26C-08A0DD5E4E03}" type="datetimeFigureOut">
              <a:rPr lang="en-US" smtClean="0"/>
              <a:t>5/20/2025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61EA0F-A667-4B49-8422-0062BC55E24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19102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17698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Úvodná sním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 bwMode="blackWhite">
          <a:xfrm>
            <a:off x="254950" y="262784"/>
            <a:ext cx="11682101" cy="633243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8549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endParaRPr lang="en-US" sz="1800" dirty="0"/>
          </a:p>
        </p:txBody>
      </p:sp>
      <p:cxnSp>
        <p:nvCxnSpPr>
          <p:cNvPr id="12" name="Straight Connector 11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21207" y="448056"/>
            <a:ext cx="6877119" cy="640080"/>
          </a:xfrm>
        </p:spPr>
        <p:txBody>
          <a:bodyPr anchor="b" anchorCtr="0">
            <a:normAutofit/>
          </a:bodyPr>
          <a:lstStyle>
            <a:lvl1pPr>
              <a:defRPr sz="2800"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539496" y="1435608"/>
            <a:ext cx="44165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lang="en-US"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sk-SK"/>
              <a:t>Kliknite sem a upravte štýly predlohy textu</a:t>
            </a:r>
          </a:p>
          <a:p>
            <a:pPr marL="0" lvl="1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sk-SK"/>
              <a:t>Druhá úroveň</a:t>
            </a:r>
          </a:p>
          <a:p>
            <a:pPr marL="0" lvl="2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sk-SK"/>
              <a:t>Tretia úroveň</a:t>
            </a:r>
          </a:p>
          <a:p>
            <a:pPr marL="0" lvl="3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sk-SK"/>
              <a:t>Štvrtá úroveň</a:t>
            </a:r>
          </a:p>
          <a:p>
            <a:pPr marL="0" lvl="4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sk-SK"/>
              <a:t>Piata úroveň</a:t>
            </a:r>
            <a:endParaRPr lang="en-US" dirty="0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8BEEBAAA-29B5-4AF5-BC5F-7E580C29002D}" type="datetimeFigureOut">
              <a:rPr lang="en-US" smtClean="0"/>
              <a:pPr/>
              <a:t>5/20/2025</a:t>
            </a:fld>
            <a:endParaRPr lang="en-US" dirty="0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7192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9860EDB8-5305-433F-BE41-D7A86D811DB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5836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lavička sekc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254951" y="262784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10" name="Rectangle 9"/>
          <p:cNvSpPr/>
          <p:nvPr userDrawn="1"/>
        </p:nvSpPr>
        <p:spPr bwMode="blackWhite">
          <a:xfrm>
            <a:off x="254950" y="262784"/>
            <a:ext cx="11682101" cy="207264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1208" y="1536192"/>
            <a:ext cx="6876288" cy="640080"/>
          </a:xfrm>
        </p:spPr>
        <p:txBody>
          <a:bodyPr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539496" y="2560320"/>
            <a:ext cx="94457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240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  <a:lvl2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lang="en-US" sz="1200"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sk-SK"/>
              <a:t>Kliknite sem a upravte štýly predlohy textu</a:t>
            </a:r>
          </a:p>
          <a:p>
            <a:pPr marL="0" lvl="1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sk-SK"/>
              <a:t>Druhá úroveň</a:t>
            </a:r>
          </a:p>
          <a:p>
            <a:pPr marL="0" lvl="2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sk-SK"/>
              <a:t>Tretia úroveň</a:t>
            </a:r>
          </a:p>
          <a:p>
            <a:pPr marL="0" lvl="3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sk-SK"/>
              <a:t>Štvrtá úroveň</a:t>
            </a:r>
          </a:p>
          <a:p>
            <a:pPr marL="0" lvl="4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sk-SK"/>
              <a:t>Piata úroveň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56555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endParaRPr lang="en-US" sz="1800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21208" y="448056"/>
            <a:ext cx="6876288" cy="64008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9496" y="1435608"/>
            <a:ext cx="4416552" cy="39776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8BEEBAAA-29B5-4AF5-BC5F-7E580C29002D}" type="datetimeFigureOut">
              <a:rPr lang="en-US" smtClean="0"/>
              <a:pPr/>
              <a:t>5/20/2025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75904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9860EDB8-5305-433F-BE41-D7A86D811DB3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6754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txStyles>
    <p:titleStyle>
      <a:lvl1pPr algn="l" defTabSz="914400" rtl="0" eaLnBrk="1" latinLnBrk="0" hangingPunct="1">
        <a:spcBef>
          <a:spcPct val="0"/>
        </a:spcBef>
        <a:buNone/>
        <a:defRPr sz="2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Tx/>
        <a:buNone/>
        <a:defRPr lang="en-US" sz="1200" kern="1200" dirty="0">
          <a:solidFill>
            <a:schemeClr val="tx1"/>
          </a:solidFill>
          <a:latin typeface="+mn-lt"/>
          <a:ea typeface="+mn-ea"/>
          <a:cs typeface="+mn-cs"/>
        </a:defRPr>
      </a:lvl1pPr>
      <a:lvl2pPr marL="2286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4pPr>
      <a:lvl5pPr marL="16002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6pPr>
      <a:lvl7pPr marL="25146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7pPr>
      <a:lvl8pPr marL="29718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8pPr>
      <a:lvl9pPr marL="34290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200" y="1164324"/>
            <a:ext cx="10515600" cy="2387600"/>
          </a:xfrm>
        </p:spPr>
        <p:txBody>
          <a:bodyPr anchor="ctr" anchorCtr="0">
            <a:normAutofit/>
          </a:bodyPr>
          <a:lstStyle/>
          <a:p>
            <a:r>
              <a:rPr lang="sk-SK" sz="4800" dirty="0" err="1">
                <a:solidFill>
                  <a:schemeClr val="bg1"/>
                </a:solidFill>
              </a:rPr>
              <a:t>Quo</a:t>
            </a:r>
            <a:r>
              <a:rPr lang="sk-SK" sz="4800" dirty="0">
                <a:solidFill>
                  <a:schemeClr val="bg1"/>
                </a:solidFill>
              </a:rPr>
              <a:t> </a:t>
            </a:r>
            <a:r>
              <a:rPr lang="sk-SK" sz="4800" dirty="0" err="1">
                <a:solidFill>
                  <a:schemeClr val="bg1"/>
                </a:solidFill>
              </a:rPr>
              <a:t>vadis</a:t>
            </a:r>
            <a:r>
              <a:rPr lang="sk-SK" sz="4800" dirty="0">
                <a:solidFill>
                  <a:schemeClr val="bg1"/>
                </a:solidFill>
              </a:rPr>
              <a:t>, školstvo na Orave</a:t>
            </a:r>
            <a:endParaRPr lang="en-US" sz="4800" dirty="0">
              <a:solidFill>
                <a:schemeClr val="bg1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4294967295"/>
          </p:nvPr>
        </p:nvSpPr>
        <p:spPr>
          <a:xfrm>
            <a:off x="855620" y="2933105"/>
            <a:ext cx="9582736" cy="2259957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  <a:buNone/>
            </a:pPr>
            <a:r>
              <a:rPr lang="sk-SK" sz="18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Autor: </a:t>
            </a:r>
            <a:r>
              <a:rPr lang="sk-SK" sz="1800" b="1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Mgr. Dana Kozáková, UČO: 568075</a:t>
            </a:r>
            <a:endParaRPr lang="en-US" sz="1800" kern="100" dirty="0">
              <a:solidFill>
                <a:schemeClr val="bg1"/>
              </a:solidFill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buNone/>
            </a:pPr>
            <a:r>
              <a:rPr lang="sk-SK" sz="18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Predmet: PřF:M8DBR - </a:t>
            </a:r>
            <a:r>
              <a:rPr lang="sk-SK" sz="1800" b="1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Databázové systémy a R v </a:t>
            </a:r>
            <a:r>
              <a:rPr lang="sk-SK" sz="1800" b="1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datové</a:t>
            </a:r>
            <a:r>
              <a:rPr lang="sk-SK" sz="1800" b="1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sk-SK" sz="1800" b="1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vědě</a:t>
            </a:r>
            <a:endParaRPr lang="en-US" sz="1800" kern="100" dirty="0">
              <a:solidFill>
                <a:schemeClr val="bg1"/>
              </a:solidFill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sk-SK" sz="18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letný semester 2025 v rámci štúdia: </a:t>
            </a:r>
            <a:r>
              <a:rPr lang="sk-SK" sz="1800" b="1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Matematické a štatistické metódy v ekonómii</a:t>
            </a:r>
            <a:endParaRPr lang="en-US" sz="1800" kern="100" dirty="0">
              <a:solidFill>
                <a:schemeClr val="bg1"/>
              </a:solidFill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400" dirty="0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471807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sk-SK" b="1" noProof="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Cie</a:t>
            </a:r>
            <a:r>
              <a:rPr lang="sk-SK" b="1" dirty="0">
                <a:latin typeface="Segoe UI Light" panose="020B0502040204020203" pitchFamily="34" charset="0"/>
                <a:cs typeface="Segoe UI Light" panose="020B0502040204020203" pitchFamily="34" charset="0"/>
              </a:rPr>
              <a:t>ľ projektu</a:t>
            </a:r>
            <a:endParaRPr lang="sk-SK" b="1" noProof="0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38" name="Content Placeholder 17"/>
          <p:cNvSpPr txBox="1">
            <a:spLocks/>
          </p:cNvSpPr>
          <p:nvPr/>
        </p:nvSpPr>
        <p:spPr>
          <a:xfrm>
            <a:off x="541610" y="1524708"/>
            <a:ext cx="10936516" cy="38715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spcAft>
                <a:spcPts val="600"/>
              </a:spcAft>
              <a:defRPr/>
            </a:pPr>
            <a:r>
              <a:rPr lang="sk-SK" sz="2400" noProof="0" dirty="0"/>
              <a:t>navrhnúť a implementovať databázu, ktorá efektívne uchováva a sprístupňuje </a:t>
            </a:r>
          </a:p>
          <a:p>
            <a:pPr lvl="1">
              <a:lnSpc>
                <a:spcPct val="150000"/>
              </a:lnSpc>
              <a:spcAft>
                <a:spcPts val="600"/>
              </a:spcAft>
              <a:defRPr/>
            </a:pPr>
            <a:r>
              <a:rPr lang="sk-SK" sz="2400" noProof="0" dirty="0"/>
              <a:t>dáta o školách</a:t>
            </a:r>
          </a:p>
          <a:p>
            <a:pPr lvl="1">
              <a:lnSpc>
                <a:spcPct val="150000"/>
              </a:lnSpc>
              <a:spcAft>
                <a:spcPts val="600"/>
              </a:spcAft>
              <a:defRPr/>
            </a:pPr>
            <a:r>
              <a:rPr lang="sk-SK" sz="2400" dirty="0"/>
              <a:t>dáta o demografii detí a mladých</a:t>
            </a:r>
            <a:endParaRPr lang="sk-SK" sz="2400" noProof="0" dirty="0"/>
          </a:p>
          <a:p>
            <a:pPr>
              <a:lnSpc>
                <a:spcPct val="150000"/>
              </a:lnSpc>
              <a:spcAft>
                <a:spcPts val="600"/>
              </a:spcAft>
              <a:defRPr/>
            </a:pPr>
            <a:r>
              <a:rPr lang="sk-SK" sz="2400" noProof="0" dirty="0"/>
              <a:t>následne využiť R na analýzu a vizualizáciu týchto dát</a:t>
            </a:r>
            <a:endParaRPr lang="sk-SK" sz="2400" noProof="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76161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306956-537A-DE96-FECB-0C278D2A80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05AAB302-129C-3D9C-0F5D-11B6A7B44C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sk-SK" b="1" noProof="0" dirty="0">
                <a:latin typeface="Segoe UI Light" panose="020B0502040204020203" pitchFamily="34" charset="0"/>
                <a:cs typeface="Segoe UI Light" panose="020B0502040204020203" pitchFamily="34" charset="0"/>
              </a:rPr>
              <a:t>Zdroj dát</a:t>
            </a:r>
          </a:p>
        </p:txBody>
      </p:sp>
      <p:sp>
        <p:nvSpPr>
          <p:cNvPr id="38" name="Content Placeholder 17">
            <a:extLst>
              <a:ext uri="{FF2B5EF4-FFF2-40B4-BE49-F238E27FC236}">
                <a16:creationId xmlns:a16="http://schemas.microsoft.com/office/drawing/2014/main" id="{6929462E-B7F7-E944-B0FD-99C1A600844B}"/>
              </a:ext>
            </a:extLst>
          </p:cNvPr>
          <p:cNvSpPr txBox="1">
            <a:spLocks/>
          </p:cNvSpPr>
          <p:nvPr/>
        </p:nvSpPr>
        <p:spPr>
          <a:xfrm>
            <a:off x="541610" y="1524708"/>
            <a:ext cx="10936516" cy="47557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spcAft>
                <a:spcPts val="600"/>
              </a:spcAft>
              <a:defRPr/>
            </a:pPr>
            <a:r>
              <a:rPr lang="sk-SK" sz="2400" dirty="0"/>
              <a:t>Štatistický úrad SR</a:t>
            </a:r>
          </a:p>
          <a:p>
            <a:pPr lvl="1">
              <a:lnSpc>
                <a:spcPct val="150000"/>
              </a:lnSpc>
              <a:spcAft>
                <a:spcPts val="600"/>
              </a:spcAft>
              <a:defRPr/>
            </a:pPr>
            <a:r>
              <a:rPr lang="sk-SK" sz="2400" dirty="0"/>
              <a:t>Dátové kocky (OLAP)</a:t>
            </a:r>
          </a:p>
          <a:p>
            <a:pPr>
              <a:lnSpc>
                <a:spcPct val="150000"/>
              </a:lnSpc>
              <a:spcAft>
                <a:spcPts val="600"/>
              </a:spcAft>
              <a:defRPr/>
            </a:pPr>
            <a:r>
              <a:rPr lang="sk-SK" sz="2400" noProof="0" dirty="0"/>
              <a:t>INEKO</a:t>
            </a:r>
          </a:p>
          <a:p>
            <a:pPr lvl="1">
              <a:lnSpc>
                <a:spcPct val="150000"/>
              </a:lnSpc>
              <a:spcAft>
                <a:spcPts val="600"/>
              </a:spcAft>
              <a:defRPr/>
            </a:pPr>
            <a:r>
              <a:rPr lang="sk-SK" sz="2400" dirty="0"/>
              <a:t>Jedna rozsiahla tabuľka</a:t>
            </a:r>
            <a:endParaRPr lang="sk-SK" sz="2400" noProof="0" dirty="0"/>
          </a:p>
          <a:p>
            <a:pPr>
              <a:lnSpc>
                <a:spcPct val="150000"/>
              </a:lnSpc>
              <a:spcAft>
                <a:spcPts val="600"/>
              </a:spcAft>
              <a:defRPr/>
            </a:pPr>
            <a:r>
              <a:rPr lang="sk-SK" sz="2400" noProof="0" dirty="0"/>
              <a:t>z webov škôl</a:t>
            </a:r>
          </a:p>
          <a:p>
            <a:pPr lvl="1">
              <a:lnSpc>
                <a:spcPct val="150000"/>
              </a:lnSpc>
              <a:spcAft>
                <a:spcPts val="600"/>
              </a:spcAft>
              <a:defRPr/>
            </a:pPr>
            <a:r>
              <a:rPr lang="sk-SK" sz="2400" dirty="0"/>
              <a:t>Doplnenie identifikácie škôl</a:t>
            </a:r>
            <a:endParaRPr lang="sk-SK" sz="2400" noProof="0" dirty="0"/>
          </a:p>
        </p:txBody>
      </p:sp>
    </p:spTree>
    <p:extLst>
      <p:ext uri="{BB962C8B-B14F-4D97-AF65-F5344CB8AC3E}">
        <p14:creationId xmlns:p14="http://schemas.microsoft.com/office/powerpoint/2010/main" val="32939272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11FA60-74B2-6960-2F24-C950CE3266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C08BDFAF-E78C-0997-2B41-46430761B5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sk-SK" b="1" dirty="0">
                <a:latin typeface="Segoe UI Light" panose="020B0502040204020203" pitchFamily="34" charset="0"/>
                <a:cs typeface="Segoe UI Light" panose="020B0502040204020203" pitchFamily="34" charset="0"/>
              </a:rPr>
              <a:t>Príprava dát</a:t>
            </a:r>
            <a:endParaRPr lang="sk-SK" b="1" noProof="0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38" name="Content Placeholder 17">
            <a:extLst>
              <a:ext uri="{FF2B5EF4-FFF2-40B4-BE49-F238E27FC236}">
                <a16:creationId xmlns:a16="http://schemas.microsoft.com/office/drawing/2014/main" id="{35C1EDF2-E317-C77D-03E8-0A96F4929166}"/>
              </a:ext>
            </a:extLst>
          </p:cNvPr>
          <p:cNvSpPr txBox="1">
            <a:spLocks/>
          </p:cNvSpPr>
          <p:nvPr/>
        </p:nvSpPr>
        <p:spPr>
          <a:xfrm>
            <a:off x="541610" y="1524708"/>
            <a:ext cx="10936516" cy="4755776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spcAft>
                <a:spcPts val="600"/>
              </a:spcAft>
              <a:defRPr/>
            </a:pPr>
            <a:r>
              <a:rPr lang="sk-SK" sz="2400" noProof="0" dirty="0"/>
              <a:t>Kontrola konzistentnosti dát</a:t>
            </a:r>
          </a:p>
          <a:p>
            <a:pPr>
              <a:lnSpc>
                <a:spcPct val="150000"/>
              </a:lnSpc>
              <a:spcAft>
                <a:spcPts val="600"/>
              </a:spcAft>
              <a:defRPr/>
            </a:pPr>
            <a:r>
              <a:rPr lang="sk-SK" sz="2400" dirty="0"/>
              <a:t>Definovanie základných entít</a:t>
            </a:r>
          </a:p>
          <a:p>
            <a:pPr>
              <a:lnSpc>
                <a:spcPct val="150000"/>
              </a:lnSpc>
              <a:spcAft>
                <a:spcPts val="600"/>
              </a:spcAft>
              <a:defRPr/>
            </a:pPr>
            <a:r>
              <a:rPr lang="sk-SK" sz="2400" dirty="0"/>
              <a:t>Identifikácia kandidátnych kľúčov</a:t>
            </a:r>
          </a:p>
          <a:p>
            <a:pPr>
              <a:lnSpc>
                <a:spcPct val="150000"/>
              </a:lnSpc>
              <a:spcAft>
                <a:spcPts val="600"/>
              </a:spcAft>
              <a:defRPr/>
            </a:pPr>
            <a:r>
              <a:rPr lang="sk-SK" sz="2400" dirty="0"/>
              <a:t>Normalizácia </a:t>
            </a:r>
          </a:p>
          <a:p>
            <a:pPr lvl="1">
              <a:lnSpc>
                <a:spcPct val="150000"/>
              </a:lnSpc>
              <a:spcAft>
                <a:spcPts val="600"/>
              </a:spcAft>
              <a:defRPr/>
            </a:pPr>
            <a:r>
              <a:rPr lang="sk-SK" sz="2400" dirty="0"/>
              <a:t>Eliminácia redundancie a anomálie dát</a:t>
            </a:r>
          </a:p>
          <a:p>
            <a:pPr>
              <a:lnSpc>
                <a:spcPct val="150000"/>
              </a:lnSpc>
              <a:spcAft>
                <a:spcPts val="600"/>
              </a:spcAft>
              <a:defRPr/>
            </a:pPr>
            <a:r>
              <a:rPr lang="sk-SK" sz="2400" dirty="0"/>
              <a:t>Dekompozícia </a:t>
            </a:r>
            <a:endParaRPr lang="sk-SK" sz="2400" noProof="0" dirty="0"/>
          </a:p>
          <a:p>
            <a:pPr lvl="1">
              <a:lnSpc>
                <a:spcPct val="150000"/>
              </a:lnSpc>
              <a:spcAft>
                <a:spcPts val="600"/>
              </a:spcAft>
              <a:defRPr/>
            </a:pPr>
            <a:r>
              <a:rPr lang="sk-SK" sz="2400" dirty="0"/>
              <a:t>úprava do 3NF</a:t>
            </a:r>
          </a:p>
          <a:p>
            <a:pPr lvl="1">
              <a:lnSpc>
                <a:spcPct val="150000"/>
              </a:lnSpc>
              <a:spcAft>
                <a:spcPts val="600"/>
              </a:spcAft>
              <a:defRPr/>
            </a:pPr>
            <a:r>
              <a:rPr lang="sk-SK" sz="2400" dirty="0"/>
              <a:t>Vytvorenie číselníkov</a:t>
            </a:r>
          </a:p>
        </p:txBody>
      </p:sp>
    </p:spTree>
    <p:extLst>
      <p:ext uri="{BB962C8B-B14F-4D97-AF65-F5344CB8AC3E}">
        <p14:creationId xmlns:p14="http://schemas.microsoft.com/office/powerpoint/2010/main" val="21210424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771063-7FC3-4B0F-9372-8BA6B688B8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21461338-DEB6-751F-8115-99E4CB70CA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sk-SK" b="1" dirty="0">
                <a:latin typeface="Segoe UI Light" panose="020B0502040204020203" pitchFamily="34" charset="0"/>
                <a:cs typeface="Segoe UI Light" panose="020B0502040204020203" pitchFamily="34" charset="0"/>
              </a:rPr>
              <a:t>E-R diagram</a:t>
            </a:r>
            <a:endParaRPr lang="sk-SK" b="1" noProof="0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pic>
        <p:nvPicPr>
          <p:cNvPr id="5" name="Obrázok 4">
            <a:extLst>
              <a:ext uri="{FF2B5EF4-FFF2-40B4-BE49-F238E27FC236}">
                <a16:creationId xmlns:a16="http://schemas.microsoft.com/office/drawing/2014/main" id="{87A2ADA0-59DD-233E-3046-4545FC6F22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0447" y="1264943"/>
            <a:ext cx="7767711" cy="5593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82154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543A45-17ED-87DA-C7ED-193969D36A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09F99E48-94FB-AB46-B60F-3DC1BFCBBC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b="1" dirty="0">
                <a:latin typeface="Segoe UI Light" panose="020B0502040204020203" pitchFamily="34" charset="0"/>
                <a:cs typeface="Segoe UI Light" panose="020B0502040204020203" pitchFamily="34" charset="0"/>
              </a:rPr>
              <a:t>SQL</a:t>
            </a:r>
            <a:r>
              <a:rPr lang="sk-SK" b="1"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sk-SK" b="1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programmability</a:t>
            </a:r>
            <a:r>
              <a:rPr lang="sk-SK" b="1" dirty="0">
                <a:latin typeface="Segoe UI Light" panose="020B0502040204020203" pitchFamily="34" charset="0"/>
                <a:cs typeface="Segoe UI Light" panose="020B0502040204020203" pitchFamily="34" charset="0"/>
              </a:rPr>
              <a:t> + R</a:t>
            </a:r>
            <a:endParaRPr lang="sk-SK" b="1" noProof="0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38" name="Content Placeholder 17">
            <a:extLst>
              <a:ext uri="{FF2B5EF4-FFF2-40B4-BE49-F238E27FC236}">
                <a16:creationId xmlns:a16="http://schemas.microsoft.com/office/drawing/2014/main" id="{4C744228-F76F-7B7B-0430-21D28A2F6452}"/>
              </a:ext>
            </a:extLst>
          </p:cNvPr>
          <p:cNvSpPr txBox="1">
            <a:spLocks/>
          </p:cNvSpPr>
          <p:nvPr/>
        </p:nvSpPr>
        <p:spPr>
          <a:xfrm>
            <a:off x="541610" y="1524708"/>
            <a:ext cx="10936516" cy="47557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spcAft>
                <a:spcPts val="600"/>
              </a:spcAft>
              <a:defRPr/>
            </a:pPr>
            <a:r>
              <a:rPr lang="en-US" sz="2400" noProof="0" dirty="0"/>
              <a:t>SQL Table </a:t>
            </a:r>
            <a:r>
              <a:rPr lang="en-US" sz="2400" noProof="0" dirty="0" err="1"/>
              <a:t>funkcia</a:t>
            </a:r>
            <a:endParaRPr lang="sk-SK" sz="2400" noProof="0" dirty="0"/>
          </a:p>
          <a:p>
            <a:pPr>
              <a:lnSpc>
                <a:spcPct val="150000"/>
              </a:lnSpc>
              <a:spcAft>
                <a:spcPts val="600"/>
              </a:spcAft>
              <a:defRPr/>
            </a:pPr>
            <a:r>
              <a:rPr lang="en-US" sz="2400" dirty="0"/>
              <a:t>SQL </a:t>
            </a:r>
            <a:r>
              <a:rPr lang="en-US" sz="2400" dirty="0" err="1"/>
              <a:t>poh</a:t>
            </a:r>
            <a:r>
              <a:rPr lang="sk-SK" sz="2400" dirty="0"/>
              <a:t>ľad</a:t>
            </a:r>
          </a:p>
          <a:p>
            <a:pPr>
              <a:lnSpc>
                <a:spcPct val="150000"/>
              </a:lnSpc>
              <a:spcAft>
                <a:spcPts val="600"/>
              </a:spcAft>
              <a:defRPr/>
            </a:pPr>
            <a:r>
              <a:rPr lang="sk-SK" sz="2400" dirty="0"/>
              <a:t>Prepojenie R a SQL pomocou klient-server architektúry</a:t>
            </a:r>
          </a:p>
          <a:p>
            <a:pPr lvl="1">
              <a:lnSpc>
                <a:spcPct val="150000"/>
              </a:lnSpc>
              <a:spcAft>
                <a:spcPts val="600"/>
              </a:spcAft>
              <a:defRPr/>
            </a:pPr>
            <a:r>
              <a:rPr lang="sk-SK" sz="2400" dirty="0"/>
              <a:t>DBI, </a:t>
            </a:r>
            <a:r>
              <a:rPr lang="sk-SK" sz="2400" dirty="0" err="1"/>
              <a:t>obdc</a:t>
            </a:r>
            <a:r>
              <a:rPr lang="sk-SK" sz="2400" dirty="0"/>
              <a:t>, </a:t>
            </a:r>
            <a:r>
              <a:rPr lang="sk-SK" sz="2400" dirty="0" err="1"/>
              <a:t>dplyr</a:t>
            </a:r>
            <a:r>
              <a:rPr lang="sk-SK" sz="2400" dirty="0"/>
              <a:t>, ggplot2</a:t>
            </a:r>
          </a:p>
          <a:p>
            <a:pPr>
              <a:lnSpc>
                <a:spcPct val="150000"/>
              </a:lnSpc>
              <a:spcAft>
                <a:spcPts val="600"/>
              </a:spcAft>
              <a:defRPr/>
            </a:pPr>
            <a:endParaRPr lang="sk-SK" sz="2400" dirty="0"/>
          </a:p>
        </p:txBody>
      </p:sp>
    </p:spTree>
    <p:extLst>
      <p:ext uri="{BB962C8B-B14F-4D97-AF65-F5344CB8AC3E}">
        <p14:creationId xmlns:p14="http://schemas.microsoft.com/office/powerpoint/2010/main" val="42882660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53B1C1-C2E0-4DB7-99A0-E4B35AC944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E301EB3D-764B-6447-9422-346DE6431F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sk-SK" b="1" noProof="0" dirty="0">
                <a:latin typeface="Segoe UI Light" panose="020B0502040204020203" pitchFamily="34" charset="0"/>
                <a:cs typeface="Segoe UI Light" panose="020B0502040204020203" pitchFamily="34" charset="0"/>
              </a:rPr>
              <a:t>R (SQL pohľad)</a:t>
            </a:r>
          </a:p>
        </p:txBody>
      </p:sp>
      <p:sp>
        <p:nvSpPr>
          <p:cNvPr id="38" name="Content Placeholder 17">
            <a:extLst>
              <a:ext uri="{FF2B5EF4-FFF2-40B4-BE49-F238E27FC236}">
                <a16:creationId xmlns:a16="http://schemas.microsoft.com/office/drawing/2014/main" id="{A85FEEEA-1840-67BE-259B-DF03F0B6088B}"/>
              </a:ext>
            </a:extLst>
          </p:cNvPr>
          <p:cNvSpPr txBox="1">
            <a:spLocks/>
          </p:cNvSpPr>
          <p:nvPr/>
        </p:nvSpPr>
        <p:spPr>
          <a:xfrm>
            <a:off x="1753789" y="3458228"/>
            <a:ext cx="7140823" cy="23467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spcAft>
                <a:spcPts val="600"/>
              </a:spcAft>
              <a:defRPr/>
            </a:pPr>
            <a:endParaRPr lang="sk-SK" sz="240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8E02C1B-53F2-971B-FDE0-5F072446D0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1207" y="1443555"/>
            <a:ext cx="11391277" cy="217988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6348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333333"/>
                </a:solidFill>
                <a:effectLst/>
                <a:latin typeface="Courier New" panose="02070309020205020404" pitchFamily="49" charset="0"/>
              </a:rPr>
              <a:t>data_mig &lt;- dbGetQuery(con, </a:t>
            </a: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DD1144"/>
                </a:solidFill>
                <a:effectLst/>
                <a:latin typeface="Courier New" panose="02070309020205020404" pitchFamily="49" charset="0"/>
              </a:rPr>
              <a:t>"SELECT * FROM [DAKO_ORAVA].[dbo].[dako_Study_Migration_District_Namestovo] ORDER BY SkolskyRok"</a:t>
            </a: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333333"/>
                </a:solidFill>
                <a:effectLst/>
                <a:latin typeface="Courier New" panose="02070309020205020404" pitchFamily="49" charset="0"/>
              </a:rPr>
              <a:t>)</a:t>
            </a:r>
            <a:r>
              <a:rPr kumimoji="0" lang="en-US" altLang="en-US" sz="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27" name="Picture 3">
            <a:extLst>
              <a:ext uri="{FF2B5EF4-FFF2-40B4-BE49-F238E27FC236}">
                <a16:creationId xmlns:a16="http://schemas.microsoft.com/office/drawing/2014/main" id="{386877BD-0A3F-9DA5-A59F-26F624638D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42146" y="1736557"/>
            <a:ext cx="6709611" cy="47925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409612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5E32B0-B289-3A86-F82D-BFE486FEF4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6E4E0C8C-EA45-AC9C-88D8-BCBA8F4CB9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sk-SK" b="1" noProof="0" dirty="0">
                <a:latin typeface="Segoe UI Light" panose="020B0502040204020203" pitchFamily="34" charset="0"/>
                <a:cs typeface="Segoe UI Light" panose="020B0502040204020203" pitchFamily="34" charset="0"/>
              </a:rPr>
              <a:t>R (</a:t>
            </a:r>
            <a:r>
              <a:rPr lang="sk-SK" b="1" noProof="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inner</a:t>
            </a:r>
            <a:r>
              <a:rPr lang="sk-SK" b="1"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sk-SK" b="1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join</a:t>
            </a:r>
            <a:r>
              <a:rPr lang="sk-SK" b="1" dirty="0">
                <a:latin typeface="Segoe UI Light" panose="020B0502040204020203" pitchFamily="34" charset="0"/>
                <a:cs typeface="Segoe UI Light" panose="020B0502040204020203" pitchFamily="34" charset="0"/>
              </a:rPr>
              <a:t>, </a:t>
            </a:r>
            <a:r>
              <a:rPr lang="sk-SK" b="1" noProof="0" dirty="0">
                <a:latin typeface="Segoe UI Light" panose="020B0502040204020203" pitchFamily="34" charset="0"/>
                <a:cs typeface="Segoe UI Light" panose="020B0502040204020203" pitchFamily="34" charset="0"/>
              </a:rPr>
              <a:t>agregácia dát)</a:t>
            </a:r>
          </a:p>
        </p:txBody>
      </p:sp>
      <p:sp>
        <p:nvSpPr>
          <p:cNvPr id="38" name="Content Placeholder 17">
            <a:extLst>
              <a:ext uri="{FF2B5EF4-FFF2-40B4-BE49-F238E27FC236}">
                <a16:creationId xmlns:a16="http://schemas.microsoft.com/office/drawing/2014/main" id="{E509A6D1-B0CC-0BFF-8531-279706339B32}"/>
              </a:ext>
            </a:extLst>
          </p:cNvPr>
          <p:cNvSpPr txBox="1">
            <a:spLocks/>
          </p:cNvSpPr>
          <p:nvPr/>
        </p:nvSpPr>
        <p:spPr>
          <a:xfrm>
            <a:off x="1753789" y="3458228"/>
            <a:ext cx="7140823" cy="23467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spcAft>
                <a:spcPts val="600"/>
              </a:spcAft>
              <a:defRPr/>
            </a:pPr>
            <a:endParaRPr lang="sk-SK" sz="2400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7C346A6D-4DA4-6917-BAF0-88989791CB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7052" y="1838540"/>
            <a:ext cx="6533147" cy="46665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90176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03D7B6-6E44-83BF-F269-6C7816A2EA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A4346D45-C70E-6F42-27B7-4AA390078E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sk-SK" b="1" noProof="0" dirty="0">
                <a:latin typeface="Segoe UI Light" panose="020B0502040204020203" pitchFamily="34" charset="0"/>
                <a:cs typeface="Segoe UI Light" panose="020B0502040204020203" pitchFamily="34" charset="0"/>
              </a:rPr>
              <a:t>R (</a:t>
            </a:r>
            <a:r>
              <a:rPr lang="sk-SK" b="1" noProof="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inner</a:t>
            </a:r>
            <a:r>
              <a:rPr lang="sk-SK" b="1"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sk-SK" b="1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join</a:t>
            </a:r>
            <a:r>
              <a:rPr lang="sk-SK" b="1" dirty="0">
                <a:latin typeface="Segoe UI Light" panose="020B0502040204020203" pitchFamily="34" charset="0"/>
                <a:cs typeface="Segoe UI Light" panose="020B0502040204020203" pitchFamily="34" charset="0"/>
              </a:rPr>
              <a:t>, </a:t>
            </a:r>
            <a:r>
              <a:rPr lang="sk-SK" b="1" noProof="0" dirty="0">
                <a:latin typeface="Segoe UI Light" panose="020B0502040204020203" pitchFamily="34" charset="0"/>
                <a:cs typeface="Segoe UI Light" panose="020B0502040204020203" pitchFamily="34" charset="0"/>
              </a:rPr>
              <a:t>agregácia dát + klastre)</a:t>
            </a:r>
          </a:p>
        </p:txBody>
      </p:sp>
      <p:sp>
        <p:nvSpPr>
          <p:cNvPr id="38" name="Content Placeholder 17">
            <a:extLst>
              <a:ext uri="{FF2B5EF4-FFF2-40B4-BE49-F238E27FC236}">
                <a16:creationId xmlns:a16="http://schemas.microsoft.com/office/drawing/2014/main" id="{47268A05-C198-3769-CE7C-AF683041D4E7}"/>
              </a:ext>
            </a:extLst>
          </p:cNvPr>
          <p:cNvSpPr txBox="1">
            <a:spLocks/>
          </p:cNvSpPr>
          <p:nvPr/>
        </p:nvSpPr>
        <p:spPr>
          <a:xfrm>
            <a:off x="1753789" y="3458228"/>
            <a:ext cx="7140823" cy="23467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spcAft>
                <a:spcPts val="600"/>
              </a:spcAft>
              <a:defRPr/>
            </a:pPr>
            <a:endParaRPr lang="sk-SK" sz="2400"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AC03DEF3-5E29-2F6B-BC65-7DD7BF0027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0" y="1358372"/>
            <a:ext cx="7472196" cy="5230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919090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B59D10-0D30-257D-1C4D-B0A1346507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38D9F3CE-C559-08A1-FECE-EC3535EEBF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sk-SK" b="1" noProof="0" dirty="0">
                <a:latin typeface="Segoe UI Light" panose="020B0502040204020203" pitchFamily="34" charset="0"/>
                <a:cs typeface="Segoe UI Light" panose="020B0502040204020203" pitchFamily="34" charset="0"/>
              </a:rPr>
              <a:t>R (grafy)</a:t>
            </a:r>
          </a:p>
        </p:txBody>
      </p:sp>
      <p:sp>
        <p:nvSpPr>
          <p:cNvPr id="38" name="Content Placeholder 17">
            <a:extLst>
              <a:ext uri="{FF2B5EF4-FFF2-40B4-BE49-F238E27FC236}">
                <a16:creationId xmlns:a16="http://schemas.microsoft.com/office/drawing/2014/main" id="{6FB7DBBE-0262-04E9-6C5B-A6A54C519406}"/>
              </a:ext>
            </a:extLst>
          </p:cNvPr>
          <p:cNvSpPr txBox="1">
            <a:spLocks/>
          </p:cNvSpPr>
          <p:nvPr/>
        </p:nvSpPr>
        <p:spPr>
          <a:xfrm>
            <a:off x="1753789" y="3458228"/>
            <a:ext cx="7140823" cy="23467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spcAft>
                <a:spcPts val="600"/>
              </a:spcAft>
              <a:defRPr/>
            </a:pPr>
            <a:endParaRPr lang="sk-SK" sz="2400" dirty="0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D05C0168-893E-0EF0-4E61-E71801FEB1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110" y="1726374"/>
            <a:ext cx="5646083" cy="39525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>
            <a:extLst>
              <a:ext uri="{FF2B5EF4-FFF2-40B4-BE49-F238E27FC236}">
                <a16:creationId xmlns:a16="http://schemas.microsoft.com/office/drawing/2014/main" id="{5CF6BFF9-A689-943A-25DA-6F7542A079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9382" y="1610355"/>
            <a:ext cx="5890460" cy="47123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434275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C7AEA5-3D7A-E484-B857-EB2B39B933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C90E6591-2D4F-77F2-CA5F-F364BC38DE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sk-SK" b="1" noProof="0" dirty="0">
                <a:latin typeface="Segoe UI Light" panose="020B0502040204020203" pitchFamily="34" charset="0"/>
                <a:cs typeface="Segoe UI Light" panose="020B0502040204020203" pitchFamily="34" charset="0"/>
              </a:rPr>
              <a:t>R (SQL funkcia + korelácia)</a:t>
            </a:r>
          </a:p>
        </p:txBody>
      </p:sp>
      <p:sp>
        <p:nvSpPr>
          <p:cNvPr id="38" name="Content Placeholder 17">
            <a:extLst>
              <a:ext uri="{FF2B5EF4-FFF2-40B4-BE49-F238E27FC236}">
                <a16:creationId xmlns:a16="http://schemas.microsoft.com/office/drawing/2014/main" id="{255D54BD-3AEC-35D2-F150-85FFE89D2733}"/>
              </a:ext>
            </a:extLst>
          </p:cNvPr>
          <p:cNvSpPr txBox="1">
            <a:spLocks/>
          </p:cNvSpPr>
          <p:nvPr/>
        </p:nvSpPr>
        <p:spPr>
          <a:xfrm>
            <a:off x="1753789" y="3458228"/>
            <a:ext cx="7140823" cy="23467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spcAft>
                <a:spcPts val="600"/>
              </a:spcAft>
              <a:defRPr/>
            </a:pPr>
            <a:endParaRPr lang="sk-SK" sz="2400" dirty="0"/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89D6892C-348E-EDF7-3070-DA91256299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92016" y="1287378"/>
            <a:ext cx="7607968" cy="54342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253199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975AE1-0CDE-8189-0CE6-D7F74F5311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D448FDBE-C3EA-078F-BCA4-469AF1C907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sk-SK" b="1" dirty="0">
                <a:latin typeface="Segoe UI Light" panose="020B0502040204020203" pitchFamily="34" charset="0"/>
                <a:cs typeface="Segoe UI Light" panose="020B0502040204020203" pitchFamily="34" charset="0"/>
              </a:rPr>
              <a:t>Na záver</a:t>
            </a:r>
            <a:endParaRPr lang="sk-SK" b="1" noProof="0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38" name="Content Placeholder 17">
            <a:extLst>
              <a:ext uri="{FF2B5EF4-FFF2-40B4-BE49-F238E27FC236}">
                <a16:creationId xmlns:a16="http://schemas.microsoft.com/office/drawing/2014/main" id="{FEDB2539-3E93-27A0-6CB8-2CFB0B33963B}"/>
              </a:ext>
            </a:extLst>
          </p:cNvPr>
          <p:cNvSpPr txBox="1">
            <a:spLocks/>
          </p:cNvSpPr>
          <p:nvPr/>
        </p:nvSpPr>
        <p:spPr>
          <a:xfrm>
            <a:off x="541610" y="1524708"/>
            <a:ext cx="10936516" cy="47557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spcAft>
                <a:spcPts val="600"/>
              </a:spcAft>
              <a:defRPr/>
            </a:pPr>
            <a:r>
              <a:rPr lang="sk-SK" sz="2400" noProof="0" dirty="0"/>
              <a:t>Zber dát pomerne náročný</a:t>
            </a:r>
          </a:p>
          <a:p>
            <a:pPr>
              <a:lnSpc>
                <a:spcPct val="150000"/>
              </a:lnSpc>
              <a:spcAft>
                <a:spcPts val="600"/>
              </a:spcAft>
              <a:defRPr/>
            </a:pPr>
            <a:r>
              <a:rPr lang="sk-SK" sz="2400" dirty="0"/>
              <a:t>Normalizáciou de </a:t>
            </a:r>
            <a:r>
              <a:rPr lang="sk-SK" sz="2400" dirty="0" err="1"/>
              <a:t>facto</a:t>
            </a:r>
            <a:r>
              <a:rPr lang="sk-SK" sz="2400" dirty="0"/>
              <a:t>: OLAP </a:t>
            </a:r>
            <a:r>
              <a:rPr lang="sk-SK" sz="2400" dirty="0">
                <a:sym typeface="Wingdings" panose="05000000000000000000" pitchFamily="2" charset="2"/>
              </a:rPr>
              <a:t></a:t>
            </a:r>
            <a:r>
              <a:rPr lang="en-US" sz="2400" dirty="0">
                <a:sym typeface="Wingdings" panose="05000000000000000000" pitchFamily="2" charset="2"/>
              </a:rPr>
              <a:t> OLTP</a:t>
            </a:r>
            <a:endParaRPr lang="sk-SK" sz="2400" dirty="0"/>
          </a:p>
          <a:p>
            <a:pPr>
              <a:lnSpc>
                <a:spcPct val="150000"/>
              </a:lnSpc>
              <a:spcAft>
                <a:spcPts val="600"/>
              </a:spcAft>
              <a:defRPr/>
            </a:pPr>
            <a:r>
              <a:rPr lang="en-US" sz="2400" dirty="0"/>
              <a:t>Mo</a:t>
            </a:r>
            <a:r>
              <a:rPr lang="sk-SK" sz="2400" dirty="0" err="1"/>
              <a:t>žnosť</a:t>
            </a:r>
            <a:r>
              <a:rPr lang="sk-SK" sz="2400" dirty="0"/>
              <a:t> automatizovaného spracovania / doplnenia údajov obmedzená</a:t>
            </a:r>
          </a:p>
          <a:p>
            <a:pPr>
              <a:lnSpc>
                <a:spcPct val="150000"/>
              </a:lnSpc>
              <a:spcAft>
                <a:spcPts val="600"/>
              </a:spcAft>
              <a:defRPr/>
            </a:pPr>
            <a:r>
              <a:rPr lang="sk-SK" sz="2400" dirty="0" err="1"/>
              <a:t>Tidy</a:t>
            </a:r>
            <a:r>
              <a:rPr lang="sk-SK" sz="2400" dirty="0"/>
              <a:t> prístup nebol potrebný </a:t>
            </a:r>
            <a:r>
              <a:rPr lang="sk-SK" sz="2400" dirty="0" err="1"/>
              <a:t>vzhľ</a:t>
            </a:r>
            <a:r>
              <a:rPr lang="en-US" sz="2400" dirty="0" err="1"/>
              <a:t>adom</a:t>
            </a:r>
            <a:r>
              <a:rPr lang="en-US" sz="2400" dirty="0"/>
              <a:t> </a:t>
            </a:r>
            <a:r>
              <a:rPr lang="en-US" sz="2400" dirty="0" err="1"/>
              <a:t>na</a:t>
            </a:r>
            <a:r>
              <a:rPr lang="en-US" sz="2400" dirty="0"/>
              <a:t> </a:t>
            </a:r>
            <a:r>
              <a:rPr lang="en-US" sz="2400" dirty="0" err="1"/>
              <a:t>objem</a:t>
            </a:r>
            <a:r>
              <a:rPr lang="en-US" sz="2400" dirty="0"/>
              <a:t> d</a:t>
            </a:r>
            <a:r>
              <a:rPr lang="sk-SK" sz="2400" dirty="0" err="1"/>
              <a:t>át</a:t>
            </a:r>
            <a:endParaRPr lang="sk-SK" sz="2400" dirty="0"/>
          </a:p>
          <a:p>
            <a:pPr marL="0" indent="0">
              <a:lnSpc>
                <a:spcPct val="150000"/>
              </a:lnSpc>
              <a:spcAft>
                <a:spcPts val="600"/>
              </a:spcAft>
              <a:buNone/>
              <a:defRPr/>
            </a:pPr>
            <a:endParaRPr lang="sk-SK" sz="2400" dirty="0"/>
          </a:p>
        </p:txBody>
      </p:sp>
    </p:spTree>
    <p:extLst>
      <p:ext uri="{BB962C8B-B14F-4D97-AF65-F5344CB8AC3E}">
        <p14:creationId xmlns:p14="http://schemas.microsoft.com/office/powerpoint/2010/main" val="21209715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Custom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Segoe UI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10001108_Win32 v2" id="{08D89365-2E4C-432D-9349-8DF9B80AEEA1}" vid="{010FF314-90DF-4A21-BD0D-ADCBA34234A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7" ma:contentTypeDescription="Create a new document." ma:contentTypeScope="" ma:versionID="c6f9a84f66a9c8b9a21755b9ffafb945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27df39e3e7036dff54f89ddd5805ce72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5563EE24-83AF-4B4D-B45B-11D1ECD4364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2FC9C26-AD58-4393-99DE-F67958CF6A2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5A3EE4EA-81C0-48D0-BEBD-A2EFD6B38B42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{C6574CEB-8EB1-4DA9-9297-7DD2A03B5401}tf10001108_win32</Template>
  <TotalTime>107</TotalTime>
  <Words>240</Words>
  <Application>Microsoft Office PowerPoint</Application>
  <PresentationFormat>Širokouhlá</PresentationFormat>
  <Paragraphs>43</Paragraphs>
  <Slides>12</Slides>
  <Notes>1</Notes>
  <HiddenSlides>0</HiddenSlides>
  <MMClips>0</MMClips>
  <ScaleCrop>false</ScaleCrop>
  <HeadingPairs>
    <vt:vector size="6" baseType="variant">
      <vt:variant>
        <vt:lpstr>Použité písma</vt:lpstr>
      </vt:variant>
      <vt:variant>
        <vt:i4>7</vt:i4>
      </vt:variant>
      <vt:variant>
        <vt:lpstr>Motív</vt:lpstr>
      </vt:variant>
      <vt:variant>
        <vt:i4>1</vt:i4>
      </vt:variant>
      <vt:variant>
        <vt:lpstr>Nadpisy snímok</vt:lpstr>
      </vt:variant>
      <vt:variant>
        <vt:i4>12</vt:i4>
      </vt:variant>
    </vt:vector>
  </HeadingPairs>
  <TitlesOfParts>
    <vt:vector size="20" baseType="lpstr">
      <vt:lpstr>Arial</vt:lpstr>
      <vt:lpstr>Calibri</vt:lpstr>
      <vt:lpstr>Courier New</vt:lpstr>
      <vt:lpstr>Segoe UI</vt:lpstr>
      <vt:lpstr>Segoe UI Light</vt:lpstr>
      <vt:lpstr>Times New Roman</vt:lpstr>
      <vt:lpstr>Wingdings</vt:lpstr>
      <vt:lpstr>Custom</vt:lpstr>
      <vt:lpstr>Quo vadis, školstvo na Orave</vt:lpstr>
      <vt:lpstr>Cieľ projektu</vt:lpstr>
      <vt:lpstr>Zdroj dát</vt:lpstr>
      <vt:lpstr>Príprava dát</vt:lpstr>
      <vt:lpstr>E-R diagram</vt:lpstr>
      <vt:lpstr>SQL programmability + R</vt:lpstr>
      <vt:lpstr>R (SQL pohľad)</vt:lpstr>
      <vt:lpstr>R (inner join, agregácia dát)</vt:lpstr>
      <vt:lpstr>R (inner join, agregácia dát + klastre)</vt:lpstr>
      <vt:lpstr>R (grafy)</vt:lpstr>
      <vt:lpstr>R (SQL funkcia + korelácia)</vt:lpstr>
      <vt:lpstr>Na záver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Dana Kozáková</dc:creator>
  <cp:keywords/>
  <cp:lastModifiedBy>Dana Kozáková</cp:lastModifiedBy>
  <cp:revision>5</cp:revision>
  <dcterms:created xsi:type="dcterms:W3CDTF">2025-05-19T06:01:00Z</dcterms:created>
  <dcterms:modified xsi:type="dcterms:W3CDTF">2025-05-20T16:06:56Z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